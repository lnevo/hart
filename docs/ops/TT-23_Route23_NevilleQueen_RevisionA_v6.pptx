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52800" y="0"/>
            <a:ext cx="9525" cy="7772400"/>
          </a:xfrm>
          <a:prstGeom prst="rect">
            <a:avLst/>
          </a:prstGeom>
          <a:solidFill>
            <a:srgbClr val="B9B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5600" y="0"/>
            <a:ext cx="9525" cy="7772400"/>
          </a:xfrm>
          <a:prstGeom prst="rect">
            <a:avLst/>
          </a:prstGeom>
          <a:solidFill>
            <a:srgbClr val="B9B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7223760"/>
            <a:ext cx="2697480" cy="152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7315200"/>
            <a:ext cx="26974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750" b="0">
                <a:solidFill>
                  <a:srgbClr val="161616"/>
                </a:solidFill>
                <a:latin typeface="Century Schoolbook"/>
              </a:rPr>
              <a:t>Publication TT-23  ·  Revision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7479792"/>
            <a:ext cx="269748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161616"/>
                </a:solidFill>
                <a:latin typeface="Century Schoolbook"/>
              </a:rPr>
              <a:t>Official Publication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3968" y="320040"/>
            <a:ext cx="2950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400" b="1">
                <a:solidFill>
                  <a:srgbClr val="161616"/>
                </a:solidFill>
                <a:latin typeface="Franklin Gothic Medium"/>
              </a:rPr>
              <a:t>SPECIAL INSTRUCTIONS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82568" y="658368"/>
            <a:ext cx="2493264" cy="177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1050">
                <a:latin typeface="Century Schoolbook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0" y="914400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50">
                <a:latin typeface="Century Schoolbook"/>
              </a:rPr>
              <a:t>1. Passenger trains will stop at all scheduled stations unless otherwise directed.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0000" y="1581912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50">
                <a:latin typeface="Century Schoolbook"/>
              </a:rPr>
              <a:t>2. Time shown is station time.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0000" y="2249424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50">
                <a:latin typeface="Century Schoolbook"/>
              </a:rPr>
              <a:t>3. Employees must compare watches before commencing duty.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10000" y="2916936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50">
                <a:latin typeface="Century Schoolbook"/>
              </a:rPr>
              <a:t>4. Trains may operate ahead of schedule only by dispatcher authority.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10000" y="3584448"/>
            <a:ext cx="2438400" cy="5029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50">
                <a:latin typeface="Century Schoolbook"/>
              </a:rPr>
              <a:t>5. Maximum authorized speed is _____ MPH.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82568" y="4937760"/>
            <a:ext cx="2493264" cy="152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rmAutofit/>
          </a:bodyPr>
          <a:lstStyle/>
          <a:p>
            <a:pPr algn="ctr"/>
            <a:r>
              <a:rPr sz="1050">
                <a:latin typeface="Century Schoolbook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0000" y="5120640"/>
            <a:ext cx="2438400" cy="6400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050">
                <a:latin typeface="Century Schoolbook"/>
              </a:rPr>
              <a:t>Bulletin notices affecting this timetable must be observed until superseded.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0" y="6080760"/>
            <a:ext cx="2438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61616"/>
                </a:solidFill>
                <a:latin typeface="Century Schoolbook"/>
              </a:rPr>
              <a:t>Conductor ____________________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10000" y="6355080"/>
            <a:ext cx="2438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61616"/>
                </a:solidFill>
                <a:latin typeface="Century Schoolbook"/>
              </a:rPr>
              <a:t>Engineer _____________________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0000" y="6629400"/>
            <a:ext cx="2438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61616"/>
                </a:solidFill>
                <a:latin typeface="Century Schoolbook"/>
              </a:rPr>
              <a:t>Session ______________________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6767" y="384048"/>
            <a:ext cx="2950464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161616"/>
                </a:solidFill>
                <a:latin typeface="Franklin Gothic Medium"/>
              </a:rPr>
              <a:t>HART RAILROAD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6767" y="749808"/>
            <a:ext cx="295046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Century Schoolbook"/>
              </a:rPr>
              <a:t>Pittsburgh &amp; Chartiers Valley Division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6767" y="960120"/>
            <a:ext cx="295046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Century Schoolbook"/>
              </a:rPr>
              <a:t>Neville Island Operations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99376" y="1389888"/>
            <a:ext cx="2365248" cy="1905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6767" y="1874519"/>
            <a:ext cx="2950464" cy="42062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3000" b="1">
                <a:solidFill>
                  <a:srgbClr val="5C1616"/>
                </a:solidFill>
                <a:latin typeface="Franklin Gothic Medium"/>
              </a:rPr>
              <a:t>ROUTE 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6767" y="2395728"/>
            <a:ext cx="295046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161616"/>
                </a:solidFill>
                <a:latin typeface="Century Schoolbook"/>
              </a:rPr>
              <a:t>"NEVILLE QUEEN"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99376" y="2926080"/>
            <a:ext cx="2365248" cy="1905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6767" y="3456432"/>
            <a:ext cx="2950464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50" b="1">
                <a:solidFill>
                  <a:srgbClr val="161616"/>
                </a:solidFill>
                <a:latin typeface="Century Schoolbook"/>
              </a:rPr>
              <a:t>Employee Timetable No. 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6767" y="3767328"/>
            <a:ext cx="2950464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161616"/>
                </a:solidFill>
                <a:latin typeface="Century Schoolbook"/>
              </a:rPr>
              <a:t>Effective __________________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6767" y="4041648"/>
            <a:ext cx="2950464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69" b="0">
                <a:solidFill>
                  <a:srgbClr val="161616"/>
                </a:solidFill>
                <a:latin typeface="Century Schoolbook"/>
              </a:rPr>
              <a:t>Supersedes Timetable No. ___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6767" y="6537960"/>
            <a:ext cx="295046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Century Schoolbook"/>
              </a:rPr>
              <a:t>Office of the Superintendent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6767" y="6748272"/>
            <a:ext cx="295046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161616"/>
                </a:solidFill>
                <a:latin typeface="Century Schoolbook"/>
              </a:rPr>
              <a:t>Neville Island Operations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6767" y="7022592"/>
            <a:ext cx="2950464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161616"/>
                </a:solidFill>
                <a:latin typeface="Century Schoolbook"/>
              </a:rPr>
              <a:t>Official Publication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" y="91440"/>
            <a:ext cx="3127248" cy="7077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52800" y="0"/>
            <a:ext cx="9525" cy="7772400"/>
          </a:xfrm>
          <a:prstGeom prst="rect">
            <a:avLst/>
          </a:prstGeom>
          <a:solidFill>
            <a:srgbClr val="B9B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5600" y="0"/>
            <a:ext cx="9525" cy="7772400"/>
          </a:xfrm>
          <a:prstGeom prst="rect">
            <a:avLst/>
          </a:prstGeom>
          <a:solidFill>
            <a:srgbClr val="B9B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9473184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161616"/>
                </a:solidFill>
                <a:latin typeface="Franklin Gothic Medium"/>
              </a:rPr>
              <a:t>ROUTE 23 — NEVILLE QUEEN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658368"/>
            <a:ext cx="94731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50" b="0">
                <a:solidFill>
                  <a:srgbClr val="161616"/>
                </a:solidFill>
                <a:latin typeface="Century Schoolbook"/>
              </a:rPr>
              <a:t>Employee Timetable No. 23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32688"/>
            <a:ext cx="9290304" cy="2286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124712"/>
            <a:ext cx="10515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61616"/>
                </a:solidFill>
                <a:latin typeface="Franklin Gothic Medium"/>
              </a:rPr>
              <a:t>EAST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124712"/>
            <a:ext cx="42519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61616"/>
                </a:solidFill>
                <a:latin typeface="Franklin Gothic Medium"/>
              </a:rPr>
              <a:t>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124712"/>
            <a:ext cx="105156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161616"/>
                </a:solidFill>
                <a:latin typeface="Franklin Gothic Medium"/>
              </a:rPr>
              <a:t>WEST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417320"/>
            <a:ext cx="7772400" cy="1524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627632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609344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Barn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627632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5:00 PM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1938528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2066543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048255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066543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4:54 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2377439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505456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487168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Brick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505456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4:48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2816352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2944368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2926079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East 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944368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4:42 PM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3255263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3383280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364992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Aristech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383280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4:36 PM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3694176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3822191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803904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Calgon Carbon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822191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4:30 PM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4133087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4261104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4242816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Kosmos 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4261104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4:24 PM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4572000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5880" y="4700016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9:42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4681728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Ferrel Gas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700016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4:18 PM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5010912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5880" y="5138928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5120640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A. Stucki Co.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5138928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4:12 PM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5449824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5880" y="5577840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9:54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80360" y="5559552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Princess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5577840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4:06 PM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5888736"/>
            <a:ext cx="7772400" cy="3810"/>
          </a:xfrm>
          <a:prstGeom prst="rect">
            <a:avLst/>
          </a:prstGeom>
          <a:solidFill>
            <a:srgbClr val="6E6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25880" y="6016752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10:00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80360" y="5998464"/>
            <a:ext cx="4251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ctr"/>
            <a:r>
              <a:rPr sz="1200" b="0">
                <a:solidFill>
                  <a:srgbClr val="161616"/>
                </a:solidFill>
                <a:latin typeface="Century Schoolbook"/>
              </a:rPr>
              <a:t>McKees Rocks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6016752"/>
            <a:ext cx="105156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t>4:00 PM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6492240"/>
            <a:ext cx="7772400" cy="1778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6656832"/>
            <a:ext cx="7772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69" b="0">
                <a:solidFill>
                  <a:srgbClr val="161616"/>
                </a:solidFill>
                <a:latin typeface="Century Schoolbook"/>
              </a:rPr>
              <a:t>Eastbound service operates Barn to McKees Rocks. Westbound service operates McKees Rocks to Barn.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6912864"/>
            <a:ext cx="7772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969" b="0">
                <a:solidFill>
                  <a:srgbClr val="161616"/>
                </a:solidFill>
                <a:latin typeface="Century Schoolbook"/>
              </a:rPr>
              <a:t>Time shown is station time. Employees must compare watches before commencing duty.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" y="7223760"/>
            <a:ext cx="77724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0">
                <a:solidFill>
                  <a:srgbClr val="161616"/>
                </a:solidFill>
                <a:latin typeface="Century Schoolbook"/>
              </a:rPr>
              <a:t>Office of the Superintendent • Neville Island Operations • Publication TT-23 • Revision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