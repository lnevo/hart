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Wiring Schematic - Node Summary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8"/>
              </a:tblGrid>
              <a:tr h="359228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Node ID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Location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Radio Address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12V Boards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5V Boards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Input Boards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Num Blocks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Helix - Lower (Princess)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North - Lower (East End west 24)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Lower (103–106 motors)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Lower (Brick / Plane)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Helix (Princess east 40 + balloon)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North - Lower (East End 34 + turnouts 107–112)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Lower (Barn)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Upper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Helix - Upper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North - Upper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Upper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Peninsula - Upper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36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North - Upper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Turnout Summary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92608" y="1289304"/>
          <a:ext cx="41148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457200"/>
                <a:gridCol w="822960"/>
                <a:gridCol w="1280160"/>
                <a:gridCol w="914400"/>
              </a:tblGrid>
              <a:tr h="264694"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Turnout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Node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Button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Feedback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Signals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C1-IN2-1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N:C1-IN1-1, R:C1-IN1-2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36RA, S1-3, 36RB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C1-IN2-2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N:C1-IN1-3, R:C1-IN1-4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2036, 38LB, 38LA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C1-IN2-3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N:C1-IN1-5, R:C1-IN1-6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2035, 40LB, 40LA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103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N:C3-IN1-1, R:C3-IN1-2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S3-10, S3-7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C3-IN2-2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N:C3-IN1-3, R:C3-IN1-4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S3-11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105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N:C3-IN1-5, R:C3-IN1-6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S3-12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C3-IN2-4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N:C3-IN1-7, R:C3-IN1-8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S3-13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N:C4-IN1-1, R:C4-IN1-2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C4-IN2-4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N:C4-IN1-7, R:C4-IN1-8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C4-IN2-2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N:C4-IN1-3, R:C4-IN1-4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S1-1, 4RA, 4RB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C4-IN2-3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N:C4-IN1-5, R:C4-IN1-6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6LA, S3-6, 6LB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C21-IN2-3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N:C21-IN1-5, R:C21-IN1-6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S4-3, S4-1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C21-IN2-2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N:C21-IN1-3, R:C21-IN1-4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S4-2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C21-IN2-4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N:C21-IN1-7, R:C21-IN1-8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S4-4, S4-5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N:C12-IN1-1, R:C12-IN1-2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S2-6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108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N:C12-IN1-3, R:C12-IN1-4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S2-7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N:C12-IN1-5, R:C12-IN1-6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S2-8, S2-5</a:t>
                      </a:r>
                    </a:p>
                  </a:txBody>
                  <a:tcPr/>
                </a:tc>
              </a:tr>
              <a:tr h="264708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N:C12-IN3-1, R:C12-IN3-2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24L, 24RA, 24RB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736592" y="1289304"/>
          <a:ext cx="41148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457200"/>
                <a:gridCol w="822960"/>
                <a:gridCol w="1280160"/>
                <a:gridCol w="914400"/>
              </a:tblGrid>
              <a:tr h="264694"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Turnout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Node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Button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Feedback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Signals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N:C12-IN1-7, R:C12-IN1-8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32R, S2-1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N:C12-IN3-3, R:C12-IN3-4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34L, 34R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C13-IN2-2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N:C13-IN1-3, R:C13-IN1-4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N:C13-IN1-5, R:C13-IN1-6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C13-IN2-1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N:C13-IN1-1, R:C13-IN1-2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8RA, 8LA, 8LB / 8RB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N:C14-IN1-1, R:C14-IN1-2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S6-1, S6-4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C14-IN2-2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N:C14-IN1-3, R:C14-IN1-4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S6-10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N:C14-IN1-5, R:C14-IN1-6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S6-11, S6-12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C14-IN2-4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N:C14-IN1-7, R:C14-IN1-8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NIX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C21-IN2-1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N:C21-IN1-1, R:C21-IN1-2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S4-6, S4-5, S4-4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DJE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C22-IN2-1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N:C22-IN1-1, R:C22-IN1-2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S5-1, S5-5, S5-6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DJW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C22-IN2-2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N:C22-IN1-3, R:C22-IN1-4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S5-2, S5-4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CBX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C23-IN1-7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N:C23-IN1-1, R:C23-IN1-2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S6-1, S6-2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C23-IN1-8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N:C23-IN1-3, R:C23-IN1-4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S6-4, S6-5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C24-IN2-1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N:C24-IN1-1, R:C24-IN1-2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S6-1, S6-5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C24-IN2-2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N:C24-IN1-3, R:C24-IN1-4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C24-IN2-3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N:C24-IN1-5, R:C24-IN1-6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S6-15</a:t>
                      </a:r>
                    </a:p>
                  </a:txBody>
                  <a:tcPr/>
                </a:tc>
              </a:tr>
              <a:tr h="264708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C22-IN2-3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N:C22-IN1-5, R:C22-IN1-6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S5-3, S5-4, S5-7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C1 - Helix - Lower (Princess)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113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114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115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38LA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113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113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114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114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115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115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113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114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115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McKees Rocks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McKeesport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114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115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113b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113a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East Lead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West Main Ext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C2 (was C3) - North - Lower (East End west 24)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S2-6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S2-6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S2-7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S2-7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24RB Y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Main West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Unused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Main East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Track 5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Track 4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Track 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Track 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Track 1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C3 (was C4) - West - Lower (103–106 motors)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103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104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105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106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106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S3-6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S3-6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S3-6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S3-7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S3-7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S3-11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S3-8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S3-8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S3-8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S3-9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S3-9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S3-11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S3-11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103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103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104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104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105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105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106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106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103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104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105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106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116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104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Unused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105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Unused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106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Unused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C4 (was C6) - West - Lower (Brick / Plane)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101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102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102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116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116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6LA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6LA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6LA Y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101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101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102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102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116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116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101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102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116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West Yard Track 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West Yard Track 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100-102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East Main Ext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T1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C11 (was C7) - Helix (Princess east 40 + balloon)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C11-OU1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SW138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SW138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C11-OU2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40LA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C11-OU3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2036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2036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2036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2035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2035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40LA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40LA Y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310896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C11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Helix Inner A</a:t>
                      </a:r>
                    </a:p>
                  </a:txBody>
                  <a:tcPr anchor="t"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Helix Outer A</a:t>
                      </a:r>
                    </a:p>
                  </a:txBody>
                  <a:tcPr anchor="t"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Helix Inner B</a:t>
                      </a:r>
                    </a:p>
                  </a:txBody>
                  <a:tcPr anchor="t"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Helix Outer B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C12 (was C2) - North - Lower (East End 34 + turnouts 107–112)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32R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32R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32R Y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111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C12-IN3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111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111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C13 (was C5) - West - Lower (Barn)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8LB Y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118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118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118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118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118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T6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118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117 (TO8)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117 (TO6)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T11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T10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T9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119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C14 (was C12) - West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SW144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SW145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SW146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SW146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SW147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S6-2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S6-2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S6-2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S6-13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S6-13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S6-11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S6-5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S6-5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S6-11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S6-11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SW144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SW144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SW145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SW145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SW146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SW146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SW147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SW144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SW145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SW146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SW144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SW145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SW146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SW147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PTT1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PTT2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TT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C21 (was C8) - Helix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NIX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NIX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S4-1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S4-1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S4-2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S4-2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S4-2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S4-5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S4-3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S4-3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S4-4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S4-5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S4-5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NIX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NIX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SW138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SW138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NIX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SW138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NIL 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NIL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SW129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Outer Leg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SW127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SW138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SW139,140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SW125,126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C22 (was C9) - North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DJE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DJE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DJW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DJW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S5-1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S5-1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S5-2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S5-2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S5-2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S5-5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S5-3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S5-3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S5-4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S5-5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S5-5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DJE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DJE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DJW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DJW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SW124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SW124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DJE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DJW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SW124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Closet Inner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Closet Outer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SW124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SW122,123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SW120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Outside Outer 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Outside Inner A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C23 (was C11) - West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C23-OU1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CBX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CBX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SW143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C23-OU2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S6-6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S6-6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S6-6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S6-8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S6-8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S6-8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S6-12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C23-OU3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S6-15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S6-15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S6-14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S6-12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S6-12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C23-IN1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CBX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CBX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SW143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SW143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CBX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SW143 BTN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C23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Outside Inner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Outside Outer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Inner 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Inner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Outer 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Outer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SW142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C24 (was C13) - Peninsula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SW148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SW148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SW150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SW150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S6-10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S6-10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S6-3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S6-3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S6-9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S6-9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S6-10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S6-4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S6-7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S6-7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SW148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SW148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SW150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SW150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SW148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SW150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SW148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SW149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SW150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BW1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BW2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WH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Siding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Station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C32 (was C10) - North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C32-OU1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SW124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C32-OU2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S5-6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S5-6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S5-6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S5-7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S5-7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